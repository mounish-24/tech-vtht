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301" r:id="rId5"/>
    <p:sldId id="302" r:id="rId7"/>
    <p:sldId id="303" r:id="rId8"/>
    <p:sldId id="308" r:id="rId9"/>
    <p:sldId id="307" r:id="rId10"/>
    <p:sldId id="299" r:id="rId11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4660"/>
  </p:normalViewPr>
  <p:slideViewPr>
    <p:cSldViewPr showGuides="1">
      <p:cViewPr varScale="1">
        <p:scale>
          <a:sx n="98" d="100"/>
          <a:sy n="98" d="100"/>
        </p:scale>
        <p:origin x="557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89722" y="494445"/>
            <a:ext cx="1047750" cy="990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99884" y="879699"/>
            <a:ext cx="6392228" cy="145478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1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RANGARAJAN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SAKUNTHALA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1430" algn="ctr">
              <a:lnSpc>
                <a:spcPct val="100000"/>
              </a:lnSpc>
              <a:spcBef>
                <a:spcPts val="73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Institution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 dirty="0">
              <a:latin typeface="Calibri" panose="020F0502020204030204"/>
              <a:cs typeface="Calibri" panose="020F0502020204030204"/>
            </a:endParaRPr>
          </a:p>
          <a:p>
            <a:pPr marL="134620" algn="ctr">
              <a:lnSpc>
                <a:spcPct val="100000"/>
              </a:lnSpc>
              <a:spcBef>
                <a:spcPts val="1250"/>
              </a:spcBef>
            </a:pPr>
            <a:r>
              <a:rPr lang="en-US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Assignment - II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8967" y="4592889"/>
            <a:ext cx="147701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70" dirty="0">
                <a:latin typeface="Cambria Math" panose="02040503050406030204"/>
                <a:cs typeface="Cambria Math" panose="02040503050406030204"/>
              </a:rPr>
              <a:t>BATCH</a:t>
            </a:r>
            <a:r>
              <a:rPr sz="2400" b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b="1" dirty="0">
                <a:latin typeface="Cambria Math" panose="02040503050406030204"/>
                <a:cs typeface="Cambria Math" panose="02040503050406030204"/>
              </a:rPr>
              <a:t>-</a:t>
            </a:r>
            <a:r>
              <a:rPr sz="2400" b="1" spc="-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lang="en-US" sz="2400" b="1" spc="-60" dirty="0">
                <a:latin typeface="Cambria Math" panose="02040503050406030204"/>
                <a:cs typeface="Cambria Math" panose="02040503050406030204"/>
              </a:rPr>
              <a:t>16</a:t>
            </a:r>
            <a:endParaRPr sz="2400" b="1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9500" y="5064760"/>
            <a:ext cx="4907280" cy="1294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VASANTH                          VH13915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VELMURAGAN                VH13914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VEMULA MOUNISH        VH13954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6096000"/>
            <a:ext cx="6523990" cy="647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IN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YEAR &amp; C-SECTION</a:t>
            </a:r>
            <a:endParaRPr lang="en-US" altLang="en-IN" sz="2000" spc="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en-IN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 Engineering</a:t>
            </a:r>
            <a:endParaRPr lang="en-US" altLang="en-IN" sz="2000" spc="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6261" y="3303934"/>
            <a:ext cx="6832771" cy="751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  <a:cs typeface="Cambria Math" panose="02040503050406030204"/>
              </a:rPr>
              <a:t>DEPARTMENT OF ARTIFICIAL INTELLIGENCE AND DATA SCIENCE</a:t>
            </a:r>
            <a:endParaRPr lang="en-US" sz="2400" b="1" dirty="0">
              <a:solidFill>
                <a:schemeClr val="tx1"/>
              </a:solidFill>
              <a:latin typeface="Century Gothic" panose="020B0502020202020204" pitchFamily="34" charset="0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4005" y="4907899"/>
            <a:ext cx="4911725" cy="1520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6530">
              <a:lnSpc>
                <a:spcPts val="2865"/>
              </a:lnSpc>
              <a:spcBef>
                <a:spcPts val="100"/>
              </a:spcBef>
            </a:pPr>
            <a:r>
              <a:rPr lang="en-IN" sz="2400" b="1" dirty="0">
                <a:latin typeface="Calibri" panose="020F0502020204030204"/>
                <a:cs typeface="Calibri" panose="020F0502020204030204"/>
              </a:rPr>
              <a:t>      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6530">
              <a:lnSpc>
                <a:spcPts val="2865"/>
              </a:lnSpc>
              <a:spcBef>
                <a:spcPts val="1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SUGANYA DEVI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6530">
              <a:lnSpc>
                <a:spcPts val="2865"/>
              </a:lnSpc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istant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6530">
              <a:lnSpc>
                <a:spcPts val="2865"/>
              </a:lnSpc>
              <a:spcBef>
                <a:spcPts val="100"/>
              </a:spcBef>
            </a:pP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AIDS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19400" y="339266"/>
            <a:ext cx="754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</a:t>
            </a:r>
            <a:r>
              <a:rPr lang="en-IN" sz="4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 </a:t>
            </a:r>
            <a:r>
              <a:rPr lang="en-IN" sz="4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IN" sz="4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0121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21HC34T-DATABASE MANAGEMENT SYSTEMS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" y="1218972"/>
            <a:ext cx="979170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QUESTION: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38480" y="2590800"/>
            <a:ext cx="1034796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buFont typeface="Wingdings" panose="05000000000000000000" charset="0"/>
              <a:buChar char="§"/>
            </a:pPr>
            <a:r>
              <a:rPr lang="en-US" altLang="en-US" sz="3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Examine static vs. dynamic hashing in a university</a:t>
            </a:r>
            <a:endParaRPr lang="en-US" altLang="en-US" sz="32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admissions database. Analyze how each handles</a:t>
            </a:r>
            <a:endParaRPr lang="en-US" altLang="en-US" sz="32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r>
              <a:rPr lang="en-US" altLang="en-US" sz="3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unpredictable increases in student applications.</a:t>
            </a:r>
            <a:endParaRPr lang="en-US" altLang="en-US" sz="32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546" y="6705727"/>
            <a:ext cx="7729728" cy="118872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946" y="6858254"/>
            <a:ext cx="7729728" cy="3101983"/>
          </a:xfrm>
        </p:spPr>
        <p:txBody>
          <a:bodyPr/>
          <a:p>
            <a:pPr marL="0" indent="0">
              <a:buNone/>
            </a:pP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-76200" y="228600"/>
            <a:ext cx="11090910" cy="29229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2800" b="1">
                <a:solidFill>
                  <a:schemeClr val="accent1">
                    <a:lumMod val="50000"/>
                  </a:schemeClr>
                </a:solidFill>
              </a:rPr>
              <a:t>introdution:</a:t>
            </a:r>
            <a:endParaRPr lang="en-US" altLang="en-US" sz="28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A university admissions database stores a large number of student records, requiring efficient data access. Hashing is a method that maps records to buckets for quick retrieval. Static hashing uses a fixed number of buckets, which can cause overflow when applications increase unexpectedly. 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sz="1600">
                <a:solidFill>
                  <a:schemeClr val="tx1"/>
                </a:solidFill>
              </a:rPr>
              <a:t> 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2819400"/>
            <a:ext cx="9914890" cy="4013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3200" b="1">
                <a:solidFill>
                  <a:srgbClr val="7030A0"/>
                </a:solidFill>
              </a:rPr>
              <a:t>Hashing</a:t>
            </a:r>
            <a:r>
              <a:rPr lang="en-US" sz="3200" b="1">
                <a:solidFill>
                  <a:srgbClr val="7030A0"/>
                </a:solidFill>
              </a:rPr>
              <a:t>:</a:t>
            </a:r>
            <a:endParaRPr sz="3200" b="1">
              <a:solidFill>
                <a:srgbClr val="7030A0"/>
              </a:solidFill>
            </a:endParaRPr>
          </a:p>
          <a:p>
            <a:pPr indent="0">
              <a:lnSpc>
                <a:spcPct val="70000"/>
              </a:lnSpc>
              <a:buFont typeface="Wingdings" panose="05000000000000000000" charset="0"/>
              <a:buNone/>
            </a:pPr>
            <a:r>
              <a:rPr sz="2400" b="1"/>
              <a:t>Definition:</a:t>
            </a:r>
            <a:r>
              <a:rPr sz="2400"/>
              <a:t> Technique to map data (e.g., student info) to a fixed location (bucket) using a hash function.</a:t>
            </a:r>
            <a:endParaRPr sz="2400"/>
          </a:p>
          <a:p>
            <a:pPr>
              <a:lnSpc>
                <a:spcPct val="70000"/>
              </a:lnSpc>
              <a:buFont typeface="Arial" panose="020B0604020202020204"/>
              <a:buChar char="•"/>
            </a:pPr>
            <a:endParaRPr sz="240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Ø"/>
            </a:pPr>
            <a:r>
              <a:rPr sz="2400"/>
              <a:t>Purpose: Quick access and retrieval of records.</a:t>
            </a:r>
            <a:endParaRPr sz="2400"/>
          </a:p>
          <a:p>
            <a:pPr>
              <a:lnSpc>
                <a:spcPct val="70000"/>
              </a:lnSpc>
              <a:buFont typeface="Arial" panose="020B0604020202020204"/>
              <a:buChar char="•"/>
            </a:pPr>
            <a:endParaRPr sz="2400"/>
          </a:p>
          <a:p>
            <a:pPr marL="342900" indent="-342900">
              <a:lnSpc>
                <a:spcPct val="70000"/>
              </a:lnSpc>
              <a:buFont typeface="Wingdings" panose="05000000000000000000" charset="0"/>
              <a:buChar char="Ø"/>
            </a:pPr>
            <a:r>
              <a:rPr sz="2400"/>
              <a:t>Key Concepts:</a:t>
            </a:r>
            <a:endParaRPr sz="2400"/>
          </a:p>
          <a:p>
            <a:pPr>
              <a:lnSpc>
                <a:spcPct val="70000"/>
              </a:lnSpc>
              <a:buFont typeface="Arial" panose="020B0604020202020204"/>
              <a:buChar char="•"/>
            </a:pPr>
            <a:endParaRPr sz="2400"/>
          </a:p>
          <a:p>
            <a:pPr lvl="1">
              <a:lnSpc>
                <a:spcPct val="70000"/>
              </a:lnSpc>
              <a:buFont typeface="Arial" panose="020B0604020202020204"/>
              <a:buChar char="◦"/>
            </a:pPr>
            <a:r>
              <a:rPr sz="2400"/>
              <a:t>Hash Function</a:t>
            </a:r>
            <a:endParaRPr sz="2400"/>
          </a:p>
          <a:p>
            <a:pPr lvl="1">
              <a:lnSpc>
                <a:spcPct val="70000"/>
              </a:lnSpc>
              <a:buFont typeface="Arial" panose="020B0604020202020204"/>
              <a:buChar char="◦"/>
            </a:pPr>
            <a:endParaRPr sz="2400"/>
          </a:p>
          <a:p>
            <a:pPr lvl="1">
              <a:lnSpc>
                <a:spcPct val="70000"/>
              </a:lnSpc>
              <a:buFont typeface="Arial" panose="020B0604020202020204"/>
              <a:buChar char="◦"/>
            </a:pPr>
            <a:r>
              <a:rPr sz="2400"/>
              <a:t>Buckets</a:t>
            </a:r>
            <a:endParaRPr sz="2400"/>
          </a:p>
          <a:p>
            <a:pPr lvl="1">
              <a:lnSpc>
                <a:spcPct val="70000"/>
              </a:lnSpc>
              <a:buFont typeface="Arial" panose="020B0604020202020204"/>
              <a:buChar char="◦"/>
            </a:pPr>
            <a:endParaRPr sz="2400"/>
          </a:p>
          <a:p>
            <a:pPr lvl="1">
              <a:lnSpc>
                <a:spcPct val="70000"/>
              </a:lnSpc>
              <a:buFont typeface="Arial" panose="020B0604020202020204"/>
              <a:buChar char="◦"/>
            </a:pPr>
            <a:r>
              <a:rPr sz="2400"/>
              <a:t>Collisions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46" y="7620127"/>
            <a:ext cx="7729728" cy="118872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46" y="7544054"/>
            <a:ext cx="7729728" cy="3101983"/>
          </a:xfrm>
        </p:spPr>
        <p:txBody>
          <a:bodyPr/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38200" y="152400"/>
            <a:ext cx="7262495" cy="67824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200" b="1">
                <a:solidFill>
                  <a:srgbClr val="7030A0"/>
                </a:solidFill>
              </a:rPr>
              <a:t>Static Hashing</a:t>
            </a:r>
            <a:r>
              <a:rPr lang="en-US" sz="2200" b="1">
                <a:solidFill>
                  <a:srgbClr val="7030A0"/>
                </a:solidFill>
              </a:rPr>
              <a:t>:</a:t>
            </a:r>
            <a:endParaRPr lang="en-US" sz="2200" b="1">
              <a:solidFill>
                <a:srgbClr val="7030A0"/>
              </a:solidFill>
            </a:endParaRPr>
          </a:p>
          <a:p>
            <a:pPr>
              <a:spcAft>
                <a:spcPct val="60000"/>
              </a:spcAft>
            </a:pPr>
            <a:r>
              <a:rPr sz="2000" b="1"/>
              <a:t>Definition:</a:t>
            </a:r>
            <a:r>
              <a:rPr sz="2000"/>
              <a:t> Fixed number of buckets.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 marL="285750" indent="-285750">
              <a:buFont typeface="Wingdings" panose="05000000000000000000" charset="0"/>
              <a:buChar char="v"/>
            </a:pPr>
            <a:r>
              <a:rPr sz="2000"/>
              <a:t>How it works: Each student record is mapped to a specific bucket.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 marL="285750" indent="-285750">
              <a:buFont typeface="Wingdings" panose="05000000000000000000" charset="0"/>
              <a:buChar char="v"/>
            </a:pPr>
            <a:r>
              <a:rPr sz="2000"/>
              <a:t>Pros: Simple, predictable</a:t>
            </a:r>
            <a:r>
              <a:rPr sz="1600"/>
              <a:t>.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>
              <a:solidFill>
                <a:srgbClr val="7030A0"/>
              </a:solidFill>
            </a:endParaRPr>
          </a:p>
          <a:p>
            <a:pPr>
              <a:spcAft>
                <a:spcPct val="60000"/>
              </a:spcAft>
            </a:pPr>
            <a:r>
              <a:rPr sz="2200" b="1">
                <a:solidFill>
                  <a:srgbClr val="7030A0"/>
                </a:solidFill>
              </a:rPr>
              <a:t>Dynamic Hashing</a:t>
            </a:r>
            <a:r>
              <a:rPr lang="en-US" sz="2200" b="1">
                <a:solidFill>
                  <a:srgbClr val="7030A0"/>
                </a:solidFill>
              </a:rPr>
              <a:t>:</a:t>
            </a:r>
            <a:endParaRPr sz="2200" b="1">
              <a:solidFill>
                <a:srgbClr val="7030A0"/>
              </a:solidFill>
            </a:endParaRPr>
          </a:p>
          <a:p>
            <a:pPr indent="0">
              <a:buFont typeface="Arial" panose="020B0604020202020204"/>
              <a:buNone/>
            </a:pPr>
            <a:r>
              <a:rPr lang="en-US" sz="1600" b="1"/>
              <a:t> </a:t>
            </a:r>
            <a:r>
              <a:rPr sz="2000" b="1"/>
              <a:t>Definition</a:t>
            </a:r>
            <a:r>
              <a:rPr sz="2000"/>
              <a:t>: Buckets can grow/shrink dynamically.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 marL="285750" indent="-285750">
              <a:buFont typeface="Wingdings" panose="05000000000000000000" charset="0"/>
              <a:buChar char="v"/>
            </a:pPr>
            <a:r>
              <a:rPr sz="2000"/>
              <a:t>How it works: Database automatically increases the number of buckets when needed.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 marL="285750" indent="-285750">
              <a:buFont typeface="Wingdings" panose="05000000000000000000" charset="0"/>
              <a:buChar char="v"/>
            </a:pPr>
            <a:r>
              <a:rPr sz="2000"/>
              <a:t>Pros:</a:t>
            </a: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/>
              <a:t>Handles unpredictable increases efficiently.</a:t>
            </a:r>
            <a:endParaRPr sz="2000"/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/>
              <a:t>Maintains good performance.</a:t>
            </a:r>
            <a:endParaRPr sz="20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746" y="7086727"/>
            <a:ext cx="7729728" cy="1188720"/>
          </a:xfrm>
        </p:spPr>
        <p:txBody>
          <a:bodyPr/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678180" y="1485900"/>
          <a:ext cx="10005060" cy="491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020"/>
                <a:gridCol w="3335020"/>
                <a:gridCol w="3335020"/>
              </a:tblGrid>
              <a:tr h="982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Static Hashing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Dynamic Hashing</a:t>
                      </a:r>
                      <a:endParaRPr lang="en-US"/>
                    </a:p>
                  </a:txBody>
                  <a:tcPr/>
                </a:tc>
              </a:tr>
              <a:tr h="982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Number oof Buckets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Fixed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Dynamic</a:t>
                      </a:r>
                      <a:endParaRPr lang="en-US"/>
                    </a:p>
                  </a:txBody>
                  <a:tcPr/>
                </a:tc>
              </a:tr>
              <a:tr h="982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Handles Overflow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Linked list / overflow area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Expands buckets automatically</a:t>
                      </a:r>
                      <a:endParaRPr lang="en-US" altLang="en-US"/>
                    </a:p>
                  </a:txBody>
                  <a:tcPr/>
                </a:tc>
              </a:tr>
              <a:tr h="982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Performance on Growth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Drops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Maintains good performance</a:t>
                      </a:r>
                      <a:endParaRPr lang="en-US" altLang="en-US"/>
                    </a:p>
                  </a:txBody>
                  <a:tcPr/>
                </a:tc>
              </a:tr>
              <a:tr h="982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Complexity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Simple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More complex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381000" y="45942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3200" b="1">
                <a:solidFill>
                  <a:schemeClr val="accent1">
                    <a:lumMod val="50000"/>
                  </a:schemeClr>
                </a:solidFill>
              </a:rPr>
              <a:t>Comparison Table</a:t>
            </a:r>
            <a:r>
              <a:rPr lang="en-US" sz="3200" b="1">
                <a:solidFill>
                  <a:schemeClr val="accent1">
                    <a:lumMod val="50000"/>
                  </a:schemeClr>
                </a:solidFill>
              </a:rPr>
              <a:t>:</a:t>
            </a:r>
            <a:endParaRPr 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00" y="7010083"/>
            <a:ext cx="10972800" cy="1143000"/>
          </a:xfrm>
        </p:spPr>
        <p:txBody>
          <a:bodyPr/>
          <a:p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010400"/>
            <a:ext cx="10972800" cy="4525963"/>
          </a:xfrm>
        </p:spPr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6200" y="304800"/>
            <a:ext cx="12081510" cy="56622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solidFill>
                  <a:schemeClr val="accent1">
                    <a:lumMod val="50000"/>
                  </a:schemeClr>
                </a:solidFill>
              </a:rPr>
              <a:t>Analysis for University Database:</a:t>
            </a:r>
            <a:endParaRPr lang="en-US" altLang="en-US" sz="32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/>
          </a:p>
          <a:p>
            <a:r>
              <a:rPr lang="en-US" altLang="en-US" sz="2400"/>
              <a:t>Admissions may see sudden surges in applications.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Static hashing:</a:t>
            </a:r>
            <a:endParaRPr lang="en-US" altLang="en-US" sz="2400" b="1"/>
          </a:p>
          <a:p>
            <a:endParaRPr lang="en-US" altLang="en-US" sz="2400"/>
          </a:p>
          <a:p>
            <a:r>
              <a:rPr lang="en-US" altLang="en-US" sz="2400"/>
              <a:t>More collisions → slower retrieval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Needs manual reorganization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 b="1"/>
              <a:t>Dynamic hashing:</a:t>
            </a:r>
            <a:endParaRPr lang="en-US" altLang="en-US" sz="2400" b="1"/>
          </a:p>
          <a:p>
            <a:endParaRPr lang="en-US" altLang="en-US" sz="2400"/>
          </a:p>
          <a:p>
            <a:r>
              <a:rPr lang="en-US" altLang="en-US" sz="2400"/>
              <a:t>Automatically adjusts to more students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Efficient retrieval even with unpredictable growth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46" y="7010527"/>
            <a:ext cx="7729728" cy="1188720"/>
          </a:xfrm>
        </p:spPr>
        <p:txBody>
          <a:bodyPr>
            <a:normAutofit/>
          </a:bodyPr>
          <a:p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946" y="7010654"/>
            <a:ext cx="7729728" cy="3101983"/>
          </a:xfrm>
        </p:spPr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143000" y="2075815"/>
            <a:ext cx="9874885" cy="3076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>
                <a:solidFill>
                  <a:srgbClr val="002060"/>
                </a:solidFill>
              </a:rPr>
              <a:t>Conclusion:</a:t>
            </a:r>
            <a:endParaRPr lang="en-US" altLang="en-US" sz="3200" b="1">
              <a:solidFill>
                <a:srgbClr val="002060"/>
              </a:solidFill>
            </a:endParaRPr>
          </a:p>
          <a:p>
            <a:endParaRPr lang="en-US" altLang="en-US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400"/>
              <a:t>Dynamic hashing is more suitable for university admissions databases with unpredictable application increases.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400"/>
              <a:t>Ensures fast access, scalability, and minimal overflow problems.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en-US" sz="2400"/>
              <a:t>Static hashing may still be okay for small, predictable databases.</a:t>
            </a: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48000" y="292163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sz="6000" dirty="0">
                <a:solidFill>
                  <a:srgbClr val="0070C0"/>
                </a:solidFill>
                <a:sym typeface="+mn-ea"/>
              </a:rPr>
              <a:t>THANK YOU</a:t>
            </a:r>
            <a:endParaRPr lang="en-IN" sz="6000" dirty="0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87*386"/>
  <p:tag name="TABLE_ENDDRAG_RECT" val="53*117*787*386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2234</Words>
  <Application>WPS Presentation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Calibri</vt:lpstr>
      <vt:lpstr>Cambria Math</vt:lpstr>
      <vt:lpstr>Century Gothic</vt:lpstr>
      <vt:lpstr>Times New Roman</vt:lpstr>
      <vt:lpstr>Arial</vt:lpstr>
      <vt:lpstr>Consolas</vt:lpstr>
      <vt:lpstr>Microsoft YaHei</vt:lpstr>
      <vt:lpstr>Arial Unicode MS</vt:lpstr>
      <vt:lpstr>Wingdings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Karthick</dc:creator>
  <cp:lastModifiedBy>Mounish Vemula</cp:lastModifiedBy>
  <cp:revision>34</cp:revision>
  <dcterms:created xsi:type="dcterms:W3CDTF">2024-07-27T15:56:00Z</dcterms:created>
  <dcterms:modified xsi:type="dcterms:W3CDTF">2025-10-09T16:22:15Z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2024-07-27T22:00:00Z</vt:filetime>
  </property>
  <property fmtid="{D5CDD505-2E9C-101B-9397-08002B2CF9AE}" pid="3" name="LastSaved">
    <vt:filetime>2024-07-27T22:00:00Z</vt:filetime>
  </property>
  <property fmtid="{D5CDD505-2E9C-101B-9397-08002B2CF9AE}" pid="4" name="ICV">
    <vt:lpwstr>684EB93E092747F990338C49192004E4_13</vt:lpwstr>
  </property>
  <property fmtid="{D5CDD505-2E9C-101B-9397-08002B2CF9AE}" pid="5" name="KSOProductBuildVer">
    <vt:lpwstr>1033-12.2.0.22549</vt:lpwstr>
  </property>
</Properties>
</file>