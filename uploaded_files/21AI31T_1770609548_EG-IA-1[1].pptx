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7.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2"/>
        <p:cNvGrpSpPr/>
        <p:nvPr/>
      </p:nvGrpSpPr>
      <p:grpSpPr>
        <a:xfrm>
          <a:off x="0" y="0"/>
          <a:ext cx="0" cy="0"/>
          <a:chOff x="0" y="0"/>
          <a:chExt cx="0" cy="0"/>
        </a:xfrm>
      </p:grpSpPr>
      <p:sp>
        <p:nvSpPr>
          <p:cNvPr id="113" name="Google Shape;113;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4" name="Google Shape;11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lgn="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3"/>
          <p:cNvPicPr>
            <a:picLocks noChangeAspect="1"/>
          </p:cNvPicPr>
          <p:nvPr/>
        </p:nvPicPr>
        <p:blipFill>
          <a:blip r:embed="rId12"/>
          <a:stretch>
            <a:fillRect/>
          </a:stretch>
        </p:blipFill>
        <p:spPr>
          <a:xfrm>
            <a:off x="-8467" y="0"/>
            <a:ext cx="12200467"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7.xml"/><Relationship Id="rId4" Type="http://schemas.openxmlformats.org/officeDocument/2006/relationships/tags" Target="../tags/tag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web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1"/>
          <p:cNvPicPr preferRelativeResize="0"/>
          <p:nvPr/>
        </p:nvPicPr>
        <p:blipFill rotWithShape="1">
          <a:blip r:embed="rId1"/>
          <a:srcRect l="30107" r="5080"/>
          <a:stretch>
            <a:fillRect/>
          </a:stretch>
        </p:blipFill>
        <p:spPr>
          <a:xfrm>
            <a:off x="0" y="-232047"/>
            <a:ext cx="12192000" cy="6858000"/>
          </a:xfrm>
          <a:prstGeom prst="rect">
            <a:avLst/>
          </a:prstGeom>
          <a:noFill/>
          <a:ln w="9525" cap="flat" cmpd="sng">
            <a:solidFill>
              <a:srgbClr val="92AAEA"/>
            </a:solidFill>
            <a:prstDash val="solid"/>
            <a:miter lim="800000"/>
            <a:headEnd type="none" w="sm" len="sm"/>
            <a:tailEnd type="none" w="sm" len="sm"/>
          </a:ln>
        </p:spPr>
      </p:pic>
      <p:pic>
        <p:nvPicPr>
          <p:cNvPr id="117" name="Google Shape;117;p1" descr="C:\Users\EXAM CELL\Downloads\High-Tech (3).png"/>
          <p:cNvPicPr preferRelativeResize="0"/>
          <p:nvPr/>
        </p:nvPicPr>
        <p:blipFill rotWithShape="1">
          <a:blip r:embed="rId2"/>
          <a:srcRect t="27778" b="30554"/>
          <a:stretch>
            <a:fillRect/>
          </a:stretch>
        </p:blipFill>
        <p:spPr>
          <a:xfrm>
            <a:off x="2470862" y="109196"/>
            <a:ext cx="7029450" cy="1139825"/>
          </a:xfrm>
          <a:prstGeom prst="rect">
            <a:avLst/>
          </a:prstGeom>
          <a:noFill/>
          <a:ln>
            <a:noFill/>
          </a:ln>
        </p:spPr>
      </p:pic>
      <p:pic>
        <p:nvPicPr>
          <p:cNvPr id="119" name="Google Shape;119;p1" descr="C:\Users\EXAM CELL\Downloads\Veltech_-Round-Logo-Final (3).png"/>
          <p:cNvPicPr preferRelativeResize="0"/>
          <p:nvPr/>
        </p:nvPicPr>
        <p:blipFill rotWithShape="1">
          <a:blip r:embed="rId3"/>
          <a:srcRect/>
          <a:stretch>
            <a:fillRect/>
          </a:stretch>
        </p:blipFill>
        <p:spPr>
          <a:xfrm>
            <a:off x="11050587" y="109537"/>
            <a:ext cx="1033462" cy="1033462"/>
          </a:xfrm>
          <a:prstGeom prst="rect">
            <a:avLst/>
          </a:prstGeom>
          <a:noFill/>
          <a:ln>
            <a:noFill/>
          </a:ln>
        </p:spPr>
      </p:pic>
      <p:sp>
        <p:nvSpPr>
          <p:cNvPr id="123" name="Google Shape;123;p1"/>
          <p:cNvSpPr txBox="1"/>
          <p:nvPr/>
        </p:nvSpPr>
        <p:spPr>
          <a:xfrm>
            <a:off x="2438400" y="1143000"/>
            <a:ext cx="7653337" cy="296862"/>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70C0"/>
              </a:buClr>
              <a:buSzPts val="2000"/>
              <a:buFont typeface="Calibri" panose="020F0502020204030204"/>
              <a:buNone/>
            </a:pPr>
            <a:r>
              <a:rPr lang="en-US" sz="2000" b="1" i="0" u="none">
                <a:solidFill>
                  <a:srgbClr val="0070C0"/>
                </a:solidFill>
                <a:latin typeface="Calibri" panose="020F0502020204030204"/>
                <a:ea typeface="Calibri" panose="020F0502020204030204"/>
                <a:cs typeface="Calibri" panose="020F0502020204030204"/>
                <a:sym typeface="Calibri" panose="020F0502020204030204"/>
              </a:rPr>
              <a:t>An Autonomous Institution</a:t>
            </a:r>
            <a:endParaRPr lang="en-US" sz="2000" b="1" i="0" u="none">
              <a:solidFill>
                <a:srgbClr val="0070C0"/>
              </a:solidFill>
              <a:latin typeface="Calibri" panose="020F0502020204030204"/>
              <a:ea typeface="Calibri" panose="020F0502020204030204"/>
              <a:cs typeface="Calibri" panose="020F0502020204030204"/>
              <a:sym typeface="Calibri" panose="020F0502020204030204"/>
            </a:endParaRPr>
          </a:p>
        </p:txBody>
      </p:sp>
      <p:sp>
        <p:nvSpPr>
          <p:cNvPr id="124" name="Google Shape;124;p1"/>
          <p:cNvSpPr txBox="1"/>
          <p:nvPr/>
        </p:nvSpPr>
        <p:spPr>
          <a:xfrm>
            <a:off x="609600" y="4419600"/>
            <a:ext cx="398462" cy="147637"/>
          </a:xfrm>
          <a:prstGeom prst="rect">
            <a:avLst/>
          </a:prstGeom>
          <a:noFill/>
          <a:ln>
            <a:noFill/>
          </a:ln>
        </p:spPr>
        <p:txBody>
          <a:bodyPr spcFirstLastPara="1" wrap="square" lIns="0" tIns="12050" rIns="0" bIns="0" anchor="t" anchorCtr="0">
            <a:spAutoFit/>
          </a:bodyPr>
          <a:lstStyle/>
          <a:p>
            <a:pPr marL="115570" marR="0" lvl="0" indent="-102870" algn="ctr" rtl="0">
              <a:lnSpc>
                <a:spcPct val="100000"/>
              </a:lnSpc>
              <a:spcBef>
                <a:spcPts val="0"/>
              </a:spcBef>
              <a:spcAft>
                <a:spcPts val="0"/>
              </a:spcAft>
              <a:buClr>
                <a:schemeClr val="dk1"/>
              </a:buClr>
              <a:buSzPts val="400"/>
              <a:buFont typeface="Arial" panose="020B0604020202020204"/>
              <a:buNone/>
            </a:pPr>
            <a:r>
              <a:rPr lang="en-US" sz="400" b="0" i="0" u="none">
                <a:solidFill>
                  <a:schemeClr val="dk1"/>
                </a:solidFill>
                <a:latin typeface="Arial" panose="020B0604020202020204"/>
                <a:ea typeface="Arial" panose="020B0604020202020204"/>
                <a:cs typeface="Arial" panose="020B0604020202020204"/>
                <a:sym typeface="Arial" panose="020B0604020202020204"/>
              </a:rPr>
              <a:t>Biotech,</a:t>
            </a:r>
            <a:endParaRPr lang="en-US" sz="400" b="0" i="0" u="none">
              <a:solidFill>
                <a:schemeClr val="dk1"/>
              </a:solidFill>
              <a:latin typeface="Arial" panose="020B0604020202020204"/>
              <a:ea typeface="Arial" panose="020B0604020202020204"/>
              <a:cs typeface="Arial" panose="020B0604020202020204"/>
              <a:sym typeface="Arial" panose="020B0604020202020204"/>
            </a:endParaRPr>
          </a:p>
          <a:p>
            <a:pPr marL="115570" marR="0" lvl="0" indent="-102870" algn="ctr" rtl="0">
              <a:lnSpc>
                <a:spcPct val="100000"/>
              </a:lnSpc>
              <a:spcBef>
                <a:spcPts val="100"/>
              </a:spcBef>
              <a:spcAft>
                <a:spcPts val="0"/>
              </a:spcAft>
              <a:buClr>
                <a:schemeClr val="dk1"/>
              </a:buClr>
              <a:buSzPts val="400"/>
              <a:buFont typeface="Arial" panose="020B0604020202020204"/>
              <a:buNone/>
            </a:pPr>
            <a:r>
              <a:rPr lang="en-US" sz="400" b="0" i="0" u="none">
                <a:solidFill>
                  <a:schemeClr val="dk1"/>
                </a:solidFill>
                <a:latin typeface="Arial" panose="020B0604020202020204"/>
                <a:ea typeface="Arial" panose="020B0604020202020204"/>
                <a:cs typeface="Arial" panose="020B0604020202020204"/>
                <a:sym typeface="Arial" panose="020B0604020202020204"/>
              </a:rPr>
              <a:t> Chemical,ECE &amp;IT</a:t>
            </a:r>
            <a:endParaRPr lang="en-US" sz="4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30" name="Google Shape;130;p1"/>
          <p:cNvSpPr/>
          <p:nvPr/>
        </p:nvSpPr>
        <p:spPr>
          <a:xfrm>
            <a:off x="2470869" y="1671739"/>
            <a:ext cx="6800546" cy="443753"/>
          </a:xfrm>
          <a:prstGeom prst="rect">
            <a:avLst/>
          </a:prstGeom>
          <a:gradFill>
            <a:gsLst>
              <a:gs pos="0">
                <a:srgbClr val="FFC647"/>
              </a:gs>
              <a:gs pos="50000">
                <a:srgbClr val="FFC600"/>
              </a:gs>
              <a:gs pos="100000">
                <a:srgbClr val="E3B400"/>
              </a:gs>
            </a:gsLst>
            <a:lin ang="5400000" scaled="0"/>
          </a:gradFill>
          <a:ln w="9525" cap="sq" cmpd="sng">
            <a:solidFill>
              <a:srgbClr val="92D050"/>
            </a:solidFill>
            <a:prstDash val="solid"/>
            <a:bevel/>
            <a:headEnd type="none" w="sm" len="sm"/>
            <a:tailEnd type="none" w="sm" len="sm"/>
          </a:ln>
          <a:effectLst>
            <a:outerShdw blurRad="50800" dist="38100" dir="2700000" algn="tl" rotWithShape="0">
              <a:srgbClr val="00B050">
                <a:alpha val="40000"/>
              </a:srgbClr>
            </a:outerShdw>
          </a:effectLst>
        </p:spPr>
        <p:txBody>
          <a:bodyPr spcFirstLastPara="1" wrap="square" lIns="91425" tIns="45700" rIns="91425" bIns="45700" anchor="ctr" anchorCtr="0">
            <a:normAutofit fontScale="80000"/>
          </a:bodyPr>
          <a:lstStyle/>
          <a:p>
            <a:pPr algn="ctr" eaLnBrk="1" hangingPunct="1">
              <a:buFont typeface="Arial" panose="020B0604020202020204" pitchFamily="34" charset="0"/>
              <a:buNone/>
            </a:pPr>
            <a:r>
              <a:rPr lang="en-IN" altLang="en-US" sz="2000" dirty="0">
                <a:latin typeface="Times New Roman" panose="02020603050405020304" pitchFamily="18" charset="0"/>
                <a:cs typeface="Times New Roman" panose="02020603050405020304" pitchFamily="18" charset="0"/>
                <a:sym typeface="+mn-ea"/>
              </a:rPr>
              <a:t>Department of</a:t>
            </a:r>
            <a:r>
              <a:rPr lang="en-IN" altLang="en-US" sz="2000" dirty="0">
                <a:solidFill>
                  <a:schemeClr val="accent1">
                    <a:lumMod val="75000"/>
                  </a:schemeClr>
                </a:solidFill>
                <a:latin typeface="Times New Roman" panose="02020603050405020304" pitchFamily="18" charset="0"/>
                <a:cs typeface="Times New Roman" panose="02020603050405020304" pitchFamily="18" charset="0"/>
                <a:sym typeface="+mn-ea"/>
              </a:rPr>
              <a:t>  Artificial intelligence and </a:t>
            </a:r>
            <a:r>
              <a:rPr lang="en-US" altLang="en-IN" sz="2000" dirty="0">
                <a:solidFill>
                  <a:schemeClr val="accent1">
                    <a:lumMod val="75000"/>
                  </a:schemeClr>
                </a:solidFill>
                <a:latin typeface="Times New Roman" panose="02020603050405020304" pitchFamily="18" charset="0"/>
                <a:cs typeface="Times New Roman" panose="02020603050405020304" pitchFamily="18" charset="0"/>
                <a:sym typeface="+mn-ea"/>
              </a:rPr>
              <a:t>Machine learning</a:t>
            </a:r>
            <a:r>
              <a:rPr lang="en-IN" altLang="en-US" sz="2000" dirty="0">
                <a:solidFill>
                  <a:schemeClr val="accent1">
                    <a:lumMod val="75000"/>
                  </a:schemeClr>
                </a:solidFill>
                <a:latin typeface="Times New Roman" panose="02020603050405020304" pitchFamily="18" charset="0"/>
                <a:cs typeface="Times New Roman" panose="02020603050405020304" pitchFamily="18" charset="0"/>
                <a:sym typeface="+mn-ea"/>
              </a:rPr>
              <a:t>  </a:t>
            </a:r>
            <a:r>
              <a:rPr lang="en-IN" altLang="en-US" sz="2000" dirty="0">
                <a:latin typeface="Times New Roman" panose="02020603050405020304" pitchFamily="18" charset="0"/>
                <a:cs typeface="Times New Roman" panose="02020603050405020304" pitchFamily="18" charset="0"/>
                <a:sym typeface="+mn-ea"/>
              </a:rPr>
              <a:t>Engineering</a:t>
            </a:r>
            <a:endParaRPr dirty="0"/>
          </a:p>
        </p:txBody>
      </p:sp>
      <p:sp>
        <p:nvSpPr>
          <p:cNvPr id="131" name="Google Shape;131;p1"/>
          <p:cNvSpPr txBox="1"/>
          <p:nvPr/>
        </p:nvSpPr>
        <p:spPr>
          <a:xfrm>
            <a:off x="1743710" y="2347595"/>
            <a:ext cx="8392160" cy="461645"/>
          </a:xfrm>
          <a:prstGeom prst="rect">
            <a:avLst/>
          </a:prstGeom>
          <a:solidFill>
            <a:schemeClr val="bg1"/>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C00000"/>
              </a:buClr>
              <a:buSzPts val="2400"/>
              <a:buFont typeface="Overlock" panose="02000506030000020004"/>
              <a:buNone/>
            </a:pPr>
            <a:r>
              <a:rPr lang="en-US" sz="2100" b="1" dirty="0">
                <a:solidFill>
                  <a:schemeClr val="accent1">
                    <a:lumMod val="50000"/>
                  </a:schemeClr>
                </a:solidFill>
                <a:latin typeface="Arial Black" panose="020B0A04020102020204" pitchFamily="34" charset="0"/>
              </a:rPr>
              <a:t>INNOVATIVE ASSIGNMENT-1</a:t>
            </a:r>
            <a:endParaRPr lang="en-US" sz="2100" b="1" dirty="0">
              <a:solidFill>
                <a:schemeClr val="accent1">
                  <a:lumMod val="50000"/>
                </a:schemeClr>
              </a:solidFill>
              <a:latin typeface="Arial Black" panose="020B0A04020102020204" pitchFamily="34" charset="0"/>
            </a:endParaRPr>
          </a:p>
        </p:txBody>
      </p:sp>
      <p:sp>
        <p:nvSpPr>
          <p:cNvPr id="4" name="Text Box 3"/>
          <p:cNvSpPr txBox="1"/>
          <p:nvPr/>
        </p:nvSpPr>
        <p:spPr>
          <a:xfrm>
            <a:off x="8215630" y="3618865"/>
            <a:ext cx="3490595" cy="583565"/>
          </a:xfrm>
          <a:prstGeom prst="rect">
            <a:avLst/>
          </a:prstGeom>
          <a:solidFill>
            <a:schemeClr val="bg1"/>
          </a:solidFill>
        </p:spPr>
        <p:txBody>
          <a:bodyPr wrap="square" rtlCol="0">
            <a:spAutoFit/>
          </a:bodyPr>
          <a:lstStyle/>
          <a:p>
            <a:pPr algn="r"/>
            <a:r>
              <a:rPr lang="en-US" sz="1600" b="1" dirty="0">
                <a:solidFill>
                  <a:srgbClr val="002060"/>
                </a:solidFill>
                <a:latin typeface="Quattrocento Sans" panose="020B0502050000020003"/>
                <a:ea typeface="Quattrocento Sans" panose="020B0502050000020003"/>
                <a:cs typeface="Quattrocento Sans" panose="020B0502050000020003"/>
                <a:sym typeface="Quattrocento Sans" panose="020B0502050000020003"/>
              </a:rPr>
              <a:t>   </a:t>
            </a:r>
            <a:endParaRPr lang="en-US" sz="1600" b="1" dirty="0">
              <a:solidFill>
                <a:srgbClr val="002060"/>
              </a:solidFill>
              <a:latin typeface="Quattrocento Sans" panose="020B0502050000020003"/>
              <a:ea typeface="Quattrocento Sans" panose="020B0502050000020003"/>
              <a:cs typeface="Quattrocento Sans" panose="020B0502050000020003"/>
              <a:sym typeface="Quattrocento Sans" panose="020B0502050000020003"/>
            </a:endParaRPr>
          </a:p>
          <a:p>
            <a:pPr algn="r"/>
            <a:endParaRPr lang="en-US" sz="1600" dirty="0"/>
          </a:p>
        </p:txBody>
      </p:sp>
      <p:sp>
        <p:nvSpPr>
          <p:cNvPr id="16" name="Rectangle 15"/>
          <p:cNvSpPr/>
          <p:nvPr/>
        </p:nvSpPr>
        <p:spPr>
          <a:xfrm>
            <a:off x="5454453" y="4182147"/>
            <a:ext cx="5857240" cy="1037590"/>
          </a:xfrm>
          <a:prstGeom prst="rect">
            <a:avLst/>
          </a:prstGeom>
        </p:spPr>
        <p:txBody>
          <a:bodyPr wrap="square">
            <a:noAutofit/>
          </a:bodyPr>
          <a:lstStyle/>
          <a:p>
            <a:pPr algn="just">
              <a:lnSpc>
                <a:spcPct val="150000"/>
              </a:lnSpc>
            </a:pPr>
            <a:endParaRPr lang="en-IN" b="1" dirty="0">
              <a:latin typeface="Times New Roman" panose="02020603050405020304" pitchFamily="18" charset="0"/>
              <a:cs typeface="Segoe UI" panose="020B0502040204020203" pitchFamily="34" charset="0"/>
            </a:endParaRPr>
          </a:p>
        </p:txBody>
      </p:sp>
      <p:graphicFrame>
        <p:nvGraphicFramePr>
          <p:cNvPr id="5" name="Table 4"/>
          <p:cNvGraphicFramePr>
            <a:graphicFrameLocks noGrp="1"/>
          </p:cNvGraphicFramePr>
          <p:nvPr>
            <p:custDataLst>
              <p:tags r:id="rId4"/>
            </p:custDataLst>
          </p:nvPr>
        </p:nvGraphicFramePr>
        <p:xfrm>
          <a:off x="4963160" y="5219700"/>
          <a:ext cx="6250940" cy="1021080"/>
        </p:xfrm>
        <a:graphic>
          <a:graphicData uri="http://schemas.openxmlformats.org/drawingml/2006/table">
            <a:tbl>
              <a:tblPr firstRow="1" bandRow="1">
                <a:tableStyleId>{5C22544A-7EE6-4342-B048-85BDC9FD1C3A}</a:tableStyleId>
              </a:tblPr>
              <a:tblGrid>
                <a:gridCol w="3154045"/>
                <a:gridCol w="3096895"/>
              </a:tblGrid>
              <a:tr h="1021080">
                <a:tc>
                  <a:txBody>
                    <a:bodyPr/>
                    <a:lstStyle/>
                    <a:p>
                      <a:r>
                        <a:rPr lang="en-US" altLang="en-IN" sz="1800" dirty="0">
                          <a:solidFill>
                            <a:schemeClr val="tx1"/>
                          </a:solidFill>
                          <a:latin typeface="Times New Roman" panose="02020603050405020304" pitchFamily="18" charset="0"/>
                          <a:cs typeface="Segoe UI" panose="020B0502040204020203" pitchFamily="34" charset="0"/>
                        </a:rPr>
                        <a:t>SUBJECT TEACHER:</a:t>
                      </a:r>
                      <a:endParaRPr lang="en-IN" sz="1800" dirty="0">
                        <a:solidFill>
                          <a:schemeClr val="tx1"/>
                        </a:solidFill>
                        <a:latin typeface="Times New Roman" panose="02020603050405020304" pitchFamily="18" charset="0"/>
                        <a:cs typeface="Segoe UI" panose="020B0502040204020203" pitchFamily="34" charset="0"/>
                      </a:endParaRPr>
                    </a:p>
                    <a:p>
                      <a:r>
                        <a:rPr lang="en-US" dirty="0">
                          <a:solidFill>
                            <a:schemeClr val="tx1"/>
                          </a:solidFill>
                        </a:rPr>
                        <a:t>DR.NAGESWARI </a:t>
                      </a:r>
                      <a:endParaRPr lang="en-US" dirty="0">
                        <a:solidFill>
                          <a:schemeClr val="tx1"/>
                        </a:solidFill>
                      </a:endParaRPr>
                    </a:p>
                    <a:p>
                      <a:r>
                        <a:rPr lang="en-US" dirty="0">
                          <a:solidFill>
                            <a:schemeClr val="tx1"/>
                          </a:solidFill>
                        </a:rPr>
                        <a:t>Assistant Professor/Dept AIML</a:t>
                      </a:r>
                      <a:endParaRPr lang="en-US" dirty="0">
                        <a:solidFill>
                          <a:schemeClr val="tx1"/>
                        </a:solidFill>
                      </a:endParaRPr>
                    </a:p>
                  </a:txBody>
                  <a:tcP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a:solidFill>
                            <a:schemeClr val="tx1"/>
                          </a:solidFill>
                        </a:rPr>
                        <a:t>         </a:t>
                      </a:r>
                      <a:r>
                        <a:rPr lang="en-US" sz="1800" dirty="0">
                          <a:solidFill>
                            <a:schemeClr val="tx1"/>
                          </a:solidFill>
                          <a:latin typeface="Times New Roman" panose="02020603050405020304" pitchFamily="18" charset="0"/>
                          <a:cs typeface="Times New Roman" panose="02020603050405020304" pitchFamily="18" charset="0"/>
                        </a:rPr>
                        <a:t> Head of the Department</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rPr>
                        <a:t>        MR.PRADEEP KATTA                                </a:t>
                      </a:r>
                      <a:endParaRPr lang="en-US" dirty="0">
                        <a:solidFill>
                          <a:schemeClr val="tx1"/>
                        </a:solidFill>
                      </a:endParaRPr>
                    </a:p>
                  </a:txBody>
                  <a:tcPr>
                    <a:solidFill>
                      <a:schemeClr val="bg1"/>
                    </a:solidFill>
                  </a:tcPr>
                </a:tc>
              </a:tr>
            </a:tbl>
          </a:graphicData>
        </a:graphic>
      </p:graphicFrame>
      <p:sp>
        <p:nvSpPr>
          <p:cNvPr id="2" name="Text Box 1"/>
          <p:cNvSpPr txBox="1"/>
          <p:nvPr/>
        </p:nvSpPr>
        <p:spPr>
          <a:xfrm>
            <a:off x="2767965" y="2809240"/>
            <a:ext cx="8282305" cy="583565"/>
          </a:xfrm>
          <a:prstGeom prst="rect">
            <a:avLst/>
          </a:prstGeom>
          <a:noFill/>
        </p:spPr>
        <p:txBody>
          <a:bodyPr wrap="square" rtlCol="0">
            <a:spAutoFit/>
          </a:bodyPr>
          <a:p>
            <a:r>
              <a:rPr lang="en-US" sz="3200" b="1" i="1">
                <a:solidFill>
                  <a:schemeClr val="accent1">
                    <a:lumMod val="75000"/>
                  </a:schemeClr>
                </a:solidFill>
              </a:rPr>
              <a:t>ENGINEERING GRAPHICS-25HME01IT</a:t>
            </a:r>
            <a:endParaRPr lang="en-US" sz="3200" b="1" i="1">
              <a:solidFill>
                <a:schemeClr val="accent1">
                  <a:lumMod val="75000"/>
                </a:schemeClr>
              </a:solidFill>
            </a:endParaRPr>
          </a:p>
        </p:txBody>
      </p:sp>
      <p:sp>
        <p:nvSpPr>
          <p:cNvPr id="3" name="Text Box 2"/>
          <p:cNvSpPr txBox="1"/>
          <p:nvPr/>
        </p:nvSpPr>
        <p:spPr>
          <a:xfrm>
            <a:off x="7438390" y="3756025"/>
            <a:ext cx="5045075" cy="1198880"/>
          </a:xfrm>
          <a:prstGeom prst="rect">
            <a:avLst/>
          </a:prstGeom>
          <a:noFill/>
        </p:spPr>
        <p:txBody>
          <a:bodyPr wrap="square" rtlCol="0">
            <a:spAutoFit/>
          </a:bodyPr>
          <a:p>
            <a:r>
              <a:rPr lang="en-US">
                <a:solidFill>
                  <a:schemeClr val="accent2"/>
                </a:solidFill>
              </a:rPr>
              <a:t>PRRSENTED BY BATCH NO: 19</a:t>
            </a:r>
            <a:endParaRPr lang="en-US">
              <a:solidFill>
                <a:schemeClr val="accent2"/>
              </a:solidFill>
            </a:endParaRPr>
          </a:p>
          <a:p>
            <a:r>
              <a:rPr lang="en-US"/>
              <a:t>     VH15225   -  VEMULA HARISH</a:t>
            </a:r>
            <a:endParaRPr lang="en-US"/>
          </a:p>
          <a:p>
            <a:r>
              <a:rPr lang="en-US"/>
              <a:t>      VH15202  - VIJAY D A</a:t>
            </a:r>
            <a:endParaRPr lang="en-US"/>
          </a:p>
          <a:p>
            <a:r>
              <a:rPr lang="en-US"/>
              <a:t>      VH15145   - VINISHA CHRISTEENA J</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66725" y="628015"/>
            <a:ext cx="4064000" cy="645160"/>
          </a:xfrm>
          <a:prstGeom prst="rect">
            <a:avLst/>
          </a:prstGeom>
          <a:noFill/>
        </p:spPr>
        <p:txBody>
          <a:bodyPr wrap="square" rtlCol="0">
            <a:spAutoFit/>
          </a:bodyPr>
          <a:p>
            <a:r>
              <a:rPr lang="en-US" sz="3600">
                <a:solidFill>
                  <a:schemeClr val="accent4">
                    <a:lumMod val="75000"/>
                  </a:schemeClr>
                </a:solidFill>
              </a:rPr>
              <a:t>QUESTION:</a:t>
            </a:r>
            <a:endParaRPr lang="en-US" sz="3600">
              <a:solidFill>
                <a:schemeClr val="accent4">
                  <a:lumMod val="75000"/>
                </a:schemeClr>
              </a:solidFill>
            </a:endParaRPr>
          </a:p>
        </p:txBody>
      </p:sp>
      <p:sp>
        <p:nvSpPr>
          <p:cNvPr id="3" name="Text Box 2"/>
          <p:cNvSpPr txBox="1"/>
          <p:nvPr/>
        </p:nvSpPr>
        <p:spPr>
          <a:xfrm>
            <a:off x="1541145" y="2305050"/>
            <a:ext cx="9641205" cy="1568450"/>
          </a:xfrm>
          <a:prstGeom prst="rect">
            <a:avLst/>
          </a:prstGeom>
        </p:spPr>
        <p:txBody>
          <a:bodyPr wrap="square">
            <a:spAutoFit/>
          </a:bodyPr>
          <a:p>
            <a:r>
              <a:rPr sz="2400">
                <a:solidFill>
                  <a:srgbClr val="000000"/>
                </a:solidFill>
                <a:latin typeface="Times New Roman" panose="02020603050405020304"/>
                <a:ea typeface="Times New Roman" panose="02020603050405020304"/>
              </a:rPr>
              <a:t>Coir is unwound from a drum of 30 mm diameter. Draw the </a:t>
            </a:r>
            <a:endParaRPr sz="2400">
              <a:solidFill>
                <a:srgbClr val="000000"/>
              </a:solidFill>
              <a:latin typeface="Times New Roman" panose="02020603050405020304"/>
              <a:ea typeface="Times New Roman" panose="02020603050405020304"/>
            </a:endParaRPr>
          </a:p>
          <a:p>
            <a:r>
              <a:rPr sz="2400">
                <a:solidFill>
                  <a:srgbClr val="000000"/>
                </a:solidFill>
                <a:latin typeface="Times New Roman" panose="02020603050405020304"/>
                <a:ea typeface="Times New Roman" panose="02020603050405020304"/>
              </a:rPr>
              <a:t>locus of the free end of the coir for unwinding through an </a:t>
            </a:r>
            <a:endParaRPr sz="2400">
              <a:solidFill>
                <a:srgbClr val="000000"/>
              </a:solidFill>
              <a:latin typeface="Times New Roman" panose="02020603050405020304"/>
              <a:ea typeface="Times New Roman" panose="02020603050405020304"/>
            </a:endParaRPr>
          </a:p>
          <a:p>
            <a:r>
              <a:rPr sz="2400">
                <a:solidFill>
                  <a:srgbClr val="000000"/>
                </a:solidFill>
                <a:latin typeface="Times New Roman" panose="02020603050405020304"/>
                <a:ea typeface="Times New Roman" panose="02020603050405020304"/>
              </a:rPr>
              <a:t>angle 720 degree. Draw also a tangent and normal at any point </a:t>
            </a:r>
            <a:endParaRPr sz="2400">
              <a:solidFill>
                <a:srgbClr val="000000"/>
              </a:solidFill>
              <a:latin typeface="Times New Roman" panose="02020603050405020304"/>
              <a:ea typeface="Times New Roman" panose="02020603050405020304"/>
            </a:endParaRPr>
          </a:p>
          <a:p>
            <a:r>
              <a:rPr sz="2400">
                <a:solidFill>
                  <a:srgbClr val="000000"/>
                </a:solidFill>
                <a:latin typeface="Times New Roman" panose="02020603050405020304"/>
                <a:ea typeface="Times New Roman" panose="02020603050405020304"/>
              </a:rPr>
              <a:t>on the curve</a:t>
            </a:r>
            <a:endParaRPr sz="2400">
              <a:solidFill>
                <a:srgbClr val="000000"/>
              </a:solidFill>
              <a:latin typeface="Times New Roman" panose="02020603050405020304"/>
              <a:ea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12192635" cy="3291840"/>
          </a:xfrm>
          <a:prstGeom prst="rect">
            <a:avLst/>
          </a:prstGeom>
        </p:spPr>
        <p:txBody>
          <a:bodyPr wrap="square">
            <a:spAutoFit/>
          </a:bodyPr>
          <a:p>
            <a:r>
              <a:rPr sz="3200">
                <a:solidFill>
                  <a:schemeClr val="accent1">
                    <a:lumMod val="75000"/>
                  </a:schemeClr>
                </a:solidFill>
              </a:rPr>
              <a:t>Introduction:</a:t>
            </a:r>
            <a:endParaRPr sz="3200">
              <a:solidFill>
                <a:schemeClr val="accent1">
                  <a:lumMod val="75000"/>
                </a:schemeClr>
              </a:solidFill>
            </a:endParaRPr>
          </a:p>
          <a:p>
            <a:endParaRPr sz="3200">
              <a:solidFill>
                <a:schemeClr val="accent1">
                  <a:lumMod val="75000"/>
                </a:schemeClr>
              </a:solidFill>
            </a:endParaRPr>
          </a:p>
          <a:p>
            <a:r>
              <a:rPr sz="1600"/>
              <a:t> </a:t>
            </a:r>
            <a:r>
              <a:rPr sz="2400"/>
              <a:t>When a coir or string is unwound from the surface of a circular drum, the free end of the coir traces a curve known as the involute of a circle. This curve is important in engineering applications such as gear tooth design, cable winding, and mechanism analysis. The study of this curve helps to understand the motion of unwinding threads from cylindrical surfaces. In this experiment, we trace the locus of the free end of a coir as it is unwound from a drum through a total angle of 720 degrees.</a:t>
            </a:r>
            <a:endParaRPr sz="2400"/>
          </a:p>
        </p:txBody>
      </p:sp>
      <p:sp>
        <p:nvSpPr>
          <p:cNvPr id="3" name="Text Box 2"/>
          <p:cNvSpPr txBox="1"/>
          <p:nvPr/>
        </p:nvSpPr>
        <p:spPr>
          <a:xfrm>
            <a:off x="67945" y="3900805"/>
            <a:ext cx="11801475" cy="2614930"/>
          </a:xfrm>
          <a:prstGeom prst="rect">
            <a:avLst/>
          </a:prstGeom>
        </p:spPr>
        <p:txBody>
          <a:bodyPr wrap="square">
            <a:spAutoFit/>
          </a:bodyPr>
          <a:p>
            <a:pPr>
              <a:lnSpc>
                <a:spcPct val="80000"/>
              </a:lnSpc>
              <a:spcAft>
                <a:spcPct val="60000"/>
              </a:spcAft>
            </a:pPr>
            <a:r>
              <a:rPr sz="3200" b="1">
                <a:solidFill>
                  <a:schemeClr val="accent1">
                    <a:lumMod val="75000"/>
                  </a:schemeClr>
                </a:solidFill>
              </a:rPr>
              <a:t>Objective</a:t>
            </a:r>
            <a:r>
              <a:rPr lang="en-US" sz="3200" b="1">
                <a:solidFill>
                  <a:schemeClr val="accent1">
                    <a:lumMod val="75000"/>
                  </a:schemeClr>
                </a:solidFill>
              </a:rPr>
              <a:t>:</a:t>
            </a:r>
            <a:endParaRPr sz="3200" b="1">
              <a:solidFill>
                <a:schemeClr val="accent1">
                  <a:lumMod val="75000"/>
                </a:schemeClr>
              </a:solidFill>
            </a:endParaRPr>
          </a:p>
          <a:p>
            <a:pPr marL="285750" indent="-285750">
              <a:lnSpc>
                <a:spcPct val="80000"/>
              </a:lnSpc>
              <a:buFont typeface="Wingdings" panose="05000000000000000000" charset="0"/>
              <a:buChar char="o"/>
            </a:pPr>
            <a:r>
              <a:rPr sz="2400"/>
              <a:t>Draw the locus of the free end of a coir unwound from a drum through 720°.</a:t>
            </a:r>
            <a:endParaRPr sz="2400"/>
          </a:p>
          <a:p>
            <a:pPr>
              <a:lnSpc>
                <a:spcPct val="80000"/>
              </a:lnSpc>
              <a:buFont typeface="Arial" panose="020B0604020202020204"/>
              <a:buChar char="•"/>
            </a:pPr>
            <a:endParaRPr sz="2400"/>
          </a:p>
          <a:p>
            <a:pPr marL="285750" indent="-285750">
              <a:lnSpc>
                <a:spcPct val="80000"/>
              </a:lnSpc>
              <a:buFont typeface="Wingdings" panose="05000000000000000000" charset="0"/>
              <a:buChar char="o"/>
            </a:pPr>
            <a:r>
              <a:rPr sz="2400"/>
              <a:t>Draw a tangent and normal at any point on that locus.</a:t>
            </a:r>
            <a:endParaRPr sz="2400"/>
          </a:p>
          <a:p>
            <a:pPr>
              <a:lnSpc>
                <a:spcPct val="80000"/>
              </a:lnSpc>
              <a:buFont typeface="Arial" panose="020B0604020202020204"/>
              <a:buChar char="•"/>
            </a:pPr>
            <a:endParaRPr sz="2400"/>
          </a:p>
          <a:p>
            <a:pPr marL="285750" indent="-285750">
              <a:lnSpc>
                <a:spcPct val="80000"/>
              </a:lnSpc>
              <a:buFont typeface="Wingdings" panose="05000000000000000000" charset="0"/>
              <a:buChar char="o"/>
            </a:pPr>
            <a:r>
              <a:rPr sz="2400"/>
              <a:t>Provide the required presentation sections: introduction, objective, problem statement &amp; given data, step-by-step procedure, conclusion, and references.</a:t>
            </a: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89230" y="335915"/>
            <a:ext cx="9370695" cy="5754370"/>
          </a:xfrm>
          <a:prstGeom prst="rect">
            <a:avLst/>
          </a:prstGeom>
        </p:spPr>
        <p:txBody>
          <a:bodyPr wrap="square">
            <a:spAutoFit/>
          </a:bodyPr>
          <a:p>
            <a:r>
              <a:rPr sz="3200" b="1"/>
              <a:t>Problem statement:</a:t>
            </a:r>
            <a:endParaRPr sz="3200" b="1"/>
          </a:p>
          <a:p>
            <a:endParaRPr sz="3200"/>
          </a:p>
          <a:p>
            <a:r>
              <a:rPr sz="1600"/>
              <a:t> </a:t>
            </a:r>
            <a:r>
              <a:rPr sz="2400"/>
              <a:t>Coir is unwound from a drum. Draw the locus of the free end for unwinding through an angle of 720°. Also draw a tangent and normal at any point on the curve.</a:t>
            </a:r>
            <a:endParaRPr sz="2400"/>
          </a:p>
          <a:p>
            <a:endParaRPr sz="3200"/>
          </a:p>
          <a:p>
            <a:endParaRPr sz="3200"/>
          </a:p>
          <a:p>
            <a:r>
              <a:rPr sz="3200" b="1"/>
              <a:t>Given data</a:t>
            </a:r>
            <a:r>
              <a:rPr lang="en-US" sz="3200" b="1"/>
              <a:t>:</a:t>
            </a:r>
            <a:endParaRPr sz="3200" b="1"/>
          </a:p>
          <a:p>
            <a:endParaRPr sz="1600"/>
          </a:p>
          <a:p>
            <a:pPr marL="342900" indent="-342900">
              <a:buFont typeface="Wingdings" panose="05000000000000000000" charset="0"/>
              <a:buChar char="Ø"/>
            </a:pPr>
            <a:r>
              <a:rPr sz="2400"/>
              <a:t>Drum diameter = 30 mm.</a:t>
            </a:r>
            <a:endParaRPr sz="2400"/>
          </a:p>
          <a:p>
            <a:pPr>
              <a:buFont typeface="Arial" panose="020B0604020202020204"/>
              <a:buChar char="•"/>
            </a:pPr>
            <a:endParaRPr sz="2400"/>
          </a:p>
          <a:p>
            <a:pPr marL="342900" indent="-342900">
              <a:buFont typeface="Wingdings" panose="05000000000000000000" charset="0"/>
              <a:buChar char="Ø"/>
            </a:pPr>
            <a:r>
              <a:rPr sz="2400"/>
              <a:t>Drum radius = 15 mm.</a:t>
            </a:r>
            <a:endParaRPr sz="2400"/>
          </a:p>
          <a:p>
            <a:pPr>
              <a:buFont typeface="Arial" panose="020B0604020202020204"/>
              <a:buChar char="•"/>
            </a:pPr>
            <a:endParaRPr sz="2400"/>
          </a:p>
          <a:p>
            <a:pPr marL="342900" indent="-342900">
              <a:buFont typeface="Wingdings" panose="05000000000000000000" charset="0"/>
              <a:buChar char="Ø"/>
            </a:pPr>
            <a:r>
              <a:rPr sz="2400"/>
              <a:t>Unwinding angle = 0° to 720° (two full turns).</a:t>
            </a: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0" y="66675"/>
            <a:ext cx="10991850" cy="6247130"/>
          </a:xfrm>
          <a:prstGeom prst="rect">
            <a:avLst/>
          </a:prstGeom>
        </p:spPr>
        <p:txBody>
          <a:bodyPr wrap="square">
            <a:spAutoFit/>
          </a:bodyPr>
          <a:p>
            <a:r>
              <a:rPr sz="3200" b="1" i="1">
                <a:solidFill>
                  <a:schemeClr val="accent1">
                    <a:lumMod val="75000"/>
                  </a:schemeClr>
                </a:solidFill>
              </a:rPr>
              <a:t>Procedure:</a:t>
            </a:r>
            <a:endParaRPr sz="3200" b="1" i="1">
              <a:solidFill>
                <a:schemeClr val="accent1">
                  <a:lumMod val="75000"/>
                </a:schemeClr>
              </a:solidFill>
            </a:endParaRPr>
          </a:p>
          <a:p>
            <a:endParaRPr sz="3200" b="1" i="1">
              <a:solidFill>
                <a:schemeClr val="accent1">
                  <a:lumMod val="75000"/>
                </a:schemeClr>
              </a:solidFill>
            </a:endParaRPr>
          </a:p>
          <a:p>
            <a:pPr>
              <a:buAutoNum type="arabicPeriod"/>
            </a:pPr>
            <a:r>
              <a:rPr sz="2400"/>
              <a:t>Draw a base circle of radius 15 mm representing the drum.</a:t>
            </a:r>
            <a:endParaRPr sz="2400"/>
          </a:p>
          <a:p>
            <a:pPr>
              <a:buAutoNum type="arabicPeriod"/>
            </a:pPr>
            <a:endParaRPr sz="2400"/>
          </a:p>
          <a:p>
            <a:pPr indent="0">
              <a:buNone/>
            </a:pPr>
            <a:r>
              <a:rPr lang="en-US" sz="2400"/>
              <a:t>2.</a:t>
            </a:r>
            <a:r>
              <a:rPr sz="2400"/>
              <a:t>Mark the starting point where the coir begins to unwind.</a:t>
            </a:r>
            <a:endParaRPr sz="2400"/>
          </a:p>
          <a:p>
            <a:pPr>
              <a:buAutoNum type="arabicPeriod"/>
            </a:pPr>
            <a:endParaRPr sz="2400"/>
          </a:p>
          <a:p>
            <a:pPr indent="0">
              <a:buNone/>
            </a:pPr>
            <a:r>
              <a:rPr lang="en-US" sz="2400"/>
              <a:t>3.</a:t>
            </a:r>
            <a:r>
              <a:rPr sz="2400"/>
              <a:t>Divide the circle into equal angles up to 720°.</a:t>
            </a:r>
            <a:endParaRPr sz="2400"/>
          </a:p>
          <a:p>
            <a:pPr>
              <a:buAutoNum type="arabicPeriod"/>
            </a:pPr>
            <a:endParaRPr sz="2400"/>
          </a:p>
          <a:p>
            <a:pPr indent="0">
              <a:buNone/>
            </a:pPr>
            <a:r>
              <a:rPr lang="en-US" sz="2400"/>
              <a:t>4.</a:t>
            </a:r>
            <a:r>
              <a:rPr sz="2400"/>
              <a:t>At each division point, draw a tangent to the circle.</a:t>
            </a:r>
            <a:endParaRPr sz="2400"/>
          </a:p>
          <a:p>
            <a:pPr>
              <a:buAutoNum type="arabicPeriod"/>
            </a:pPr>
            <a:endParaRPr sz="2400"/>
          </a:p>
          <a:p>
            <a:pPr indent="0">
              <a:buNone/>
            </a:pPr>
            <a:r>
              <a:rPr lang="en-US" sz="2400"/>
              <a:t>5.</a:t>
            </a:r>
            <a:r>
              <a:rPr sz="2400"/>
              <a:t>On each tangent, measure and mark the arc length equal to the length unwound from the circle.</a:t>
            </a:r>
            <a:endParaRPr sz="2400"/>
          </a:p>
          <a:p>
            <a:pPr>
              <a:buAutoNum type="arabicPeriod"/>
            </a:pPr>
            <a:endParaRPr sz="2400"/>
          </a:p>
          <a:p>
            <a:pPr indent="0">
              <a:buNone/>
            </a:pPr>
            <a:r>
              <a:rPr lang="en-US" sz="2400"/>
              <a:t>6.</a:t>
            </a:r>
            <a:r>
              <a:rPr sz="2400"/>
              <a:t>Join all the marked points smoothly to obtain the involute curve (locus).</a:t>
            </a:r>
            <a:endParaRPr sz="2400"/>
          </a:p>
          <a:p>
            <a:pPr>
              <a:buAutoNum type="arabicPeriod"/>
            </a:pPr>
            <a:endParaRPr sz="2400"/>
          </a:p>
          <a:p>
            <a:pPr indent="0">
              <a:buNone/>
            </a:pPr>
            <a:r>
              <a:rPr lang="en-US" sz="2400"/>
              <a:t>7.</a:t>
            </a:r>
            <a:r>
              <a:rPr sz="2400"/>
              <a:t>Draw a tangent and normal at any selected point on the involute.</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44145" y="173355"/>
            <a:ext cx="3318510" cy="583565"/>
          </a:xfrm>
          <a:prstGeom prst="rect">
            <a:avLst/>
          </a:prstGeom>
          <a:noFill/>
        </p:spPr>
        <p:txBody>
          <a:bodyPr wrap="square" rtlCol="0">
            <a:spAutoFit/>
          </a:bodyPr>
          <a:p>
            <a:r>
              <a:rPr lang="en-US" sz="3200" b="1" i="1">
                <a:solidFill>
                  <a:schemeClr val="accent1">
                    <a:lumMod val="75000"/>
                  </a:schemeClr>
                </a:solidFill>
              </a:rPr>
              <a:t>DIAGRAM:</a:t>
            </a:r>
            <a:endParaRPr lang="en-US" sz="3200" b="1" i="1">
              <a:solidFill>
                <a:schemeClr val="accent1">
                  <a:lumMod val="75000"/>
                </a:schemeClr>
              </a:solidFill>
            </a:endParaRPr>
          </a:p>
        </p:txBody>
      </p:sp>
      <p:pic>
        <p:nvPicPr>
          <p:cNvPr id="3" name="Picture 2"/>
          <p:cNvPicPr>
            <a:picLocks noChangeAspect="1"/>
          </p:cNvPicPr>
          <p:nvPr/>
        </p:nvPicPr>
        <p:blipFill>
          <a:blip r:embed="rId1"/>
          <a:stretch>
            <a:fillRect/>
          </a:stretch>
        </p:blipFill>
        <p:spPr>
          <a:xfrm rot="16200000">
            <a:off x="2998470" y="-2337435"/>
            <a:ext cx="6197600" cy="121926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2715" y="149225"/>
            <a:ext cx="11135995" cy="6247130"/>
          </a:xfrm>
          <a:prstGeom prst="rect">
            <a:avLst/>
          </a:prstGeom>
        </p:spPr>
        <p:txBody>
          <a:bodyPr wrap="square">
            <a:spAutoFit/>
          </a:bodyPr>
          <a:p>
            <a:r>
              <a:rPr sz="3200" b="1">
                <a:solidFill>
                  <a:schemeClr val="accent1">
                    <a:lumMod val="50000"/>
                  </a:schemeClr>
                </a:solidFill>
              </a:rPr>
              <a:t>Conclusion:</a:t>
            </a:r>
            <a:endParaRPr sz="3200" b="1">
              <a:solidFill>
                <a:schemeClr val="accent1">
                  <a:lumMod val="50000"/>
                </a:schemeClr>
              </a:solidFill>
            </a:endParaRPr>
          </a:p>
          <a:p>
            <a:r>
              <a:rPr sz="1600"/>
              <a:t> </a:t>
            </a:r>
            <a:r>
              <a:rPr sz="2400"/>
              <a:t>From this experiment, the locus traced by the free end of the coir unwound from a 30 mm diameter drum is found to be an involute of a circle. The tangent and normal drawn at any point on the curve help in understanding its geometric properties. This curve has practical applications in gear tooth design, winding mechanisms, and engineering drawings. The graphical method effectively demonstrates the generation of the involute curve through simple geometric construction.</a:t>
            </a:r>
            <a:endParaRPr sz="2400"/>
          </a:p>
          <a:p>
            <a:endParaRPr sz="1600"/>
          </a:p>
          <a:p>
            <a:endParaRPr sz="1600"/>
          </a:p>
          <a:p>
            <a:endParaRPr sz="1600"/>
          </a:p>
          <a:p>
            <a:r>
              <a:rPr sz="3200" b="1">
                <a:solidFill>
                  <a:schemeClr val="accent1">
                    <a:lumMod val="50000"/>
                  </a:schemeClr>
                </a:solidFill>
              </a:rPr>
              <a:t>References:</a:t>
            </a:r>
            <a:endParaRPr sz="2400" b="1">
              <a:solidFill>
                <a:schemeClr val="accent1">
                  <a:lumMod val="50000"/>
                </a:schemeClr>
              </a:solidFill>
            </a:endParaRPr>
          </a:p>
          <a:p>
            <a:endParaRPr sz="2400"/>
          </a:p>
          <a:p>
            <a:pPr>
              <a:buAutoNum type="arabicPeriod"/>
            </a:pPr>
            <a:r>
              <a:rPr sz="2400"/>
              <a:t>N.D. Bhatt, “Engineering Drawing,” Charotar Publishing House.</a:t>
            </a:r>
            <a:endParaRPr sz="2400"/>
          </a:p>
          <a:p>
            <a:pPr>
              <a:buAutoNum type="arabicPeriod"/>
            </a:pPr>
            <a:endParaRPr sz="2400"/>
          </a:p>
          <a:p>
            <a:pPr indent="0">
              <a:buNone/>
            </a:pPr>
            <a:r>
              <a:rPr lang="en-US" sz="2400"/>
              <a:t>2.</a:t>
            </a:r>
            <a:r>
              <a:rPr sz="2400"/>
              <a:t>K. Venugopal, “Engineering Drawing and Graphics,” New Age International Publishers.</a:t>
            </a:r>
            <a:endParaRPr sz="2400"/>
          </a:p>
          <a:p>
            <a:pPr>
              <a:buAutoNum type="arabicPeriod"/>
            </a:pPr>
            <a:endParaRPr sz="2400"/>
          </a:p>
          <a:p>
            <a:pPr indent="0">
              <a:buNone/>
            </a:pPr>
            <a:r>
              <a:rPr lang="en-US" sz="2400"/>
              <a:t>3.</a:t>
            </a:r>
            <a:r>
              <a:rPr sz="2400"/>
              <a:t>K.L. Narayana &amp; P. Kannaiah, “Engineering Drawing,” Scitech Publications.</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tretch>
            <a:fillRect/>
          </a:stretch>
        </p:blipFill>
        <p:spPr>
          <a:xfrm>
            <a:off x="-635" y="0"/>
            <a:ext cx="12193270" cy="6858635"/>
          </a:xfrm>
          <a:prstGeom prst="rect">
            <a:avLst/>
          </a:prstGeom>
        </p:spPr>
      </p:pic>
    </p:spTree>
  </p:cSld>
  <p:clrMapOvr>
    <a:masterClrMapping/>
  </p:clrMapOvr>
</p:sld>
</file>

<file path=ppt/tags/tag1.xml><?xml version="1.0" encoding="utf-8"?>
<p:tagLst xmlns:p="http://schemas.openxmlformats.org/presentationml/2006/main">
  <p:tag name="TABLE_ENDDRAG_ORIGIN_RECT" val="492*80"/>
  <p:tag name="TABLE_ENDDRAG_RECT" val="113*284*492*80"/>
</p:tagLst>
</file>

<file path=ppt/theme/theme1.xml><?xml version="1.0" encoding="utf-8"?>
<a:theme xmlns:a="http://schemas.openxmlformats.org/drawingml/2006/main" name="Gear Drives">
  <a:themeElements>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fontScheme name="Gear Dri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ear Dri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ar Dri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ar Dri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ar Dri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ar Dri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ar Dri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ar Dri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ar Dri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ar Dri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ar Dri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ar Dri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ar Dri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2906</Words>
  <Application>WPS Presentation</Application>
  <PresentationFormat>Widescreen</PresentationFormat>
  <Paragraphs>88</Paragraphs>
  <Slides>8</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8</vt:i4>
      </vt:variant>
    </vt:vector>
  </HeadingPairs>
  <TitlesOfParts>
    <vt:vector size="24" baseType="lpstr">
      <vt:lpstr>Arial</vt:lpstr>
      <vt:lpstr>SimSun</vt:lpstr>
      <vt:lpstr>Wingdings</vt:lpstr>
      <vt:lpstr>Calibri</vt:lpstr>
      <vt:lpstr>Arial</vt:lpstr>
      <vt:lpstr>Times New Roman</vt:lpstr>
      <vt:lpstr>Overlock</vt:lpstr>
      <vt:lpstr>Yu Gothic UI</vt:lpstr>
      <vt:lpstr>Arial Black</vt:lpstr>
      <vt:lpstr>Quattrocento Sans</vt:lpstr>
      <vt:lpstr>Segoe UI</vt:lpstr>
      <vt:lpstr>Times New Roman</vt:lpstr>
      <vt:lpstr>Wingdings</vt:lpstr>
      <vt:lpstr>Microsoft YaHei</vt:lpstr>
      <vt:lpstr>Arial Unicode MS</vt:lpstr>
      <vt:lpstr>Gear Drives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Mounish Vemula</cp:lastModifiedBy>
  <cp:revision>4</cp:revision>
  <dcterms:created xsi:type="dcterms:W3CDTF">2025-07-23T00:59:00Z</dcterms:created>
  <dcterms:modified xsi:type="dcterms:W3CDTF">2025-10-25T16:27:33Z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B529853D319E4F358B0C7A4F99FC91BD_12</vt:lpwstr>
  </property>
  <property fmtid="{D5CDD505-2E9C-101B-9397-08002B2CF9AE}" pid="3" name="KSOProductBuildVer">
    <vt:lpwstr>1033-12.2.0.22549</vt:lpwstr>
  </property>
</Properties>
</file>